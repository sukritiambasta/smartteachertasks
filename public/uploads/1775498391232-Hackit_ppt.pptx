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9"/>
      <p:bold r:id="rId10"/>
      <p:italic r:id="rId11"/>
      <p:boldItalic r:id="rId12"/>
    </p:embeddedFont>
    <p:embeddedFont>
      <p:font typeface="Open Sans Medium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eb1e778f5_1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66" name="Google Shape;66;g3ceb1e778f5_1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ceb1e778f5_1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83" name="Google Shape;83;g3ceb1e778f5_1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eb1e778f5_1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07" name="Google Shape;107;g3ceb1e778f5_1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eb1e778f5_1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31" name="Google Shape;131;g3ceb1e778f5_1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eb1e778f5_1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51" name="Google Shape;151;g3ceb1e778f5_1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ceb1e778f5_1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71" name="Google Shape;171;g3ceb1e778f5_1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/>
          <p:nvPr/>
        </p:nvSpPr>
        <p:spPr>
          <a:xfrm>
            <a:off x="5301374" y="1341283"/>
            <a:ext cx="3647231" cy="2364186"/>
          </a:xfrm>
          <a:custGeom>
            <a:avLst/>
            <a:gdLst/>
            <a:ahLst/>
            <a:cxnLst/>
            <a:rect l="l" t="t" r="r" b="b"/>
            <a:pathLst>
              <a:path w="7331117" h="4681556" extrusionOk="0">
                <a:moveTo>
                  <a:pt x="0" y="0"/>
                </a:moveTo>
                <a:lnTo>
                  <a:pt x="7331117" y="0"/>
                </a:lnTo>
                <a:lnTo>
                  <a:pt x="7331117" y="4681556"/>
                </a:lnTo>
                <a:lnTo>
                  <a:pt x="0" y="46815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2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50" tIns="22850" rIns="45750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132421" y="1742181"/>
            <a:ext cx="8878800" cy="1908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45636" marR="0" lvl="1" indent="-272818" algn="l" rtl="0">
              <a:lnSpc>
                <a:spcPct val="155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7"/>
              <a:buFont typeface="Arial"/>
              <a:buChar char="•"/>
            </a:pPr>
            <a:r>
              <a:rPr lang="en-GB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Idea Title - Smart Support System For Teachers</a:t>
            </a:r>
            <a:endParaRPr sz="500" dirty="0"/>
          </a:p>
          <a:p>
            <a:pPr marL="545636" marR="0" lvl="1" indent="-272818" algn="l" rtl="0">
              <a:lnSpc>
                <a:spcPct val="155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7"/>
              <a:buFont typeface="Arial"/>
              <a:buChar char="•"/>
            </a:pPr>
            <a:r>
              <a:rPr lang="en-GB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Domain - Web Development</a:t>
            </a:r>
            <a:endParaRPr sz="500" dirty="0"/>
          </a:p>
          <a:p>
            <a:pPr marL="545636" marR="0" lvl="1" indent="-272818" algn="l" rtl="0">
              <a:lnSpc>
                <a:spcPct val="155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7"/>
              <a:buFont typeface="Arial"/>
              <a:buChar char="•"/>
            </a:pPr>
            <a:r>
              <a:rPr lang="en-GB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PS </a:t>
            </a:r>
            <a:r>
              <a:rPr lang="en-GB" sz="2000" b="1" dirty="0"/>
              <a:t>ID - PS1003</a:t>
            </a:r>
            <a:endParaRPr sz="2000" b="1" dirty="0"/>
          </a:p>
          <a:p>
            <a:pPr marL="545636" marR="0" lvl="1" indent="-272818" algn="l" rtl="0">
              <a:lnSpc>
                <a:spcPct val="155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7"/>
              <a:buFont typeface="Arial"/>
              <a:buChar char="•"/>
            </a:pPr>
            <a:r>
              <a:rPr lang="en-GB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Name - Dev Dynasty</a:t>
            </a:r>
            <a:endParaRPr sz="700" dirty="0"/>
          </a:p>
        </p:txBody>
      </p:sp>
      <p:grpSp>
        <p:nvGrpSpPr>
          <p:cNvPr id="70" name="Google Shape;70;p14"/>
          <p:cNvGrpSpPr/>
          <p:nvPr/>
        </p:nvGrpSpPr>
        <p:grpSpPr>
          <a:xfrm>
            <a:off x="0" y="4678061"/>
            <a:ext cx="9143818" cy="465445"/>
            <a:chOff x="0" y="-47625"/>
            <a:chExt cx="4816592" cy="241301"/>
          </a:xfrm>
        </p:grpSpPr>
        <p:sp>
          <p:nvSpPr>
            <p:cNvPr id="71" name="Google Shape;71;p14"/>
            <p:cNvSpPr/>
            <p:nvPr/>
          </p:nvSpPr>
          <p:spPr>
            <a:xfrm>
              <a:off x="0" y="0"/>
              <a:ext cx="4816592" cy="193676"/>
            </a:xfrm>
            <a:custGeom>
              <a:avLst/>
              <a:gdLst/>
              <a:ahLst/>
              <a:cxnLst/>
              <a:rect l="l" t="t" r="r" b="b"/>
              <a:pathLst>
                <a:path w="4816592" h="193676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93676"/>
                  </a:lnTo>
                  <a:lnTo>
                    <a:pt x="0" y="193676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spcFirstLastPara="1" wrap="square" lIns="45750" tIns="22850" rIns="45750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14"/>
            <p:cNvSpPr txBox="1"/>
            <p:nvPr/>
          </p:nvSpPr>
          <p:spPr>
            <a:xfrm>
              <a:off x="0" y="-47625"/>
              <a:ext cx="4816500" cy="241200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3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3" name="Google Shape;73;p14"/>
          <p:cNvSpPr txBox="1"/>
          <p:nvPr/>
        </p:nvSpPr>
        <p:spPr>
          <a:xfrm>
            <a:off x="3151130" y="472911"/>
            <a:ext cx="2046512" cy="483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7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Title Page</a:t>
            </a:r>
            <a:endParaRPr sz="700" dirty="0"/>
          </a:p>
        </p:txBody>
      </p:sp>
      <p:sp>
        <p:nvSpPr>
          <p:cNvPr id="74" name="Google Shape;74;p14"/>
          <p:cNvSpPr txBox="1"/>
          <p:nvPr/>
        </p:nvSpPr>
        <p:spPr>
          <a:xfrm>
            <a:off x="3717372" y="4813783"/>
            <a:ext cx="170910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70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@HACKIT 202</a:t>
            </a:r>
            <a:r>
              <a:rPr lang="en-GB" sz="1000" b="1" dirty="0">
                <a:latin typeface="Open Sans Medium"/>
                <a:ea typeface="Open Sans Medium"/>
                <a:cs typeface="Open Sans Medium"/>
                <a:sym typeface="Open Sans Medium"/>
              </a:rPr>
              <a:t>6</a:t>
            </a:r>
            <a:endParaRPr sz="700" dirty="0">
              <a:solidFill>
                <a:srgbClr val="000000"/>
              </a:solidFill>
            </a:endParaRPr>
          </a:p>
        </p:txBody>
      </p:sp>
      <p:grpSp>
        <p:nvGrpSpPr>
          <p:cNvPr id="75" name="Google Shape;75;p14"/>
          <p:cNvGrpSpPr/>
          <p:nvPr/>
        </p:nvGrpSpPr>
        <p:grpSpPr>
          <a:xfrm>
            <a:off x="8378199" y="4236614"/>
            <a:ext cx="620777" cy="384285"/>
            <a:chOff x="0" y="-47625"/>
            <a:chExt cx="327000" cy="199225"/>
          </a:xfrm>
        </p:grpSpPr>
        <p:sp>
          <p:nvSpPr>
            <p:cNvPr id="76" name="Google Shape;76;p14"/>
            <p:cNvSpPr/>
            <p:nvPr/>
          </p:nvSpPr>
          <p:spPr>
            <a:xfrm>
              <a:off x="0" y="0"/>
              <a:ext cx="326928" cy="151600"/>
            </a:xfrm>
            <a:custGeom>
              <a:avLst/>
              <a:gdLst/>
              <a:ahLst/>
              <a:cxnLst/>
              <a:rect l="l" t="t" r="r" b="b"/>
              <a:pathLst>
                <a:path w="326928" h="151600" extrusionOk="0">
                  <a:moveTo>
                    <a:pt x="75800" y="0"/>
                  </a:moveTo>
                  <a:lnTo>
                    <a:pt x="251128" y="0"/>
                  </a:lnTo>
                  <a:cubicBezTo>
                    <a:pt x="292991" y="0"/>
                    <a:pt x="326928" y="33937"/>
                    <a:pt x="326928" y="75800"/>
                  </a:cubicBezTo>
                  <a:lnTo>
                    <a:pt x="326928" y="75800"/>
                  </a:lnTo>
                  <a:cubicBezTo>
                    <a:pt x="326928" y="117663"/>
                    <a:pt x="292991" y="151600"/>
                    <a:pt x="251128" y="151600"/>
                  </a:cubicBezTo>
                  <a:lnTo>
                    <a:pt x="75800" y="151600"/>
                  </a:lnTo>
                  <a:cubicBezTo>
                    <a:pt x="33937" y="151600"/>
                    <a:pt x="0" y="117663"/>
                    <a:pt x="0" y="75800"/>
                  </a:cubicBezTo>
                  <a:lnTo>
                    <a:pt x="0" y="75800"/>
                  </a:lnTo>
                  <a:cubicBezTo>
                    <a:pt x="0" y="33937"/>
                    <a:pt x="33937" y="0"/>
                    <a:pt x="75800" y="0"/>
                  </a:cubicBezTo>
                  <a:close/>
                </a:path>
              </a:pathLst>
            </a:custGeom>
            <a:solidFill>
              <a:srgbClr val="17726D"/>
            </a:solidFill>
            <a:ln>
              <a:noFill/>
            </a:ln>
          </p:spPr>
          <p:txBody>
            <a:bodyPr spcFirstLastPara="1" wrap="square" lIns="45750" tIns="22850" rIns="45750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14"/>
            <p:cNvSpPr txBox="1"/>
            <p:nvPr/>
          </p:nvSpPr>
          <p:spPr>
            <a:xfrm>
              <a:off x="0" y="-47625"/>
              <a:ext cx="327000" cy="19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3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" name="Google Shape;78;p14"/>
          <p:cNvSpPr/>
          <p:nvPr/>
        </p:nvSpPr>
        <p:spPr>
          <a:xfrm>
            <a:off x="8537016" y="4405325"/>
            <a:ext cx="315189" cy="151572"/>
          </a:xfrm>
          <a:custGeom>
            <a:avLst/>
            <a:gdLst/>
            <a:ahLst/>
            <a:cxnLst/>
            <a:rect l="l" t="t" r="r" b="b"/>
            <a:pathLst>
              <a:path w="633545" h="300142" extrusionOk="0">
                <a:moveTo>
                  <a:pt x="0" y="0"/>
                </a:moveTo>
                <a:lnTo>
                  <a:pt x="633545" y="0"/>
                </a:lnTo>
                <a:lnTo>
                  <a:pt x="633545" y="300142"/>
                </a:lnTo>
                <a:lnTo>
                  <a:pt x="0" y="3001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50" tIns="22850" rIns="45750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7125673" y="0"/>
            <a:ext cx="1862175" cy="913347"/>
          </a:xfrm>
          <a:custGeom>
            <a:avLst/>
            <a:gdLst/>
            <a:ahLst/>
            <a:cxnLst/>
            <a:rect l="l" t="t" r="r" b="b"/>
            <a:pathLst>
              <a:path w="4026325" h="2149051" extrusionOk="0">
                <a:moveTo>
                  <a:pt x="0" y="0"/>
                </a:moveTo>
                <a:lnTo>
                  <a:pt x="4026324" y="0"/>
                </a:lnTo>
                <a:lnTo>
                  <a:pt x="4026324" y="2149051"/>
                </a:lnTo>
                <a:lnTo>
                  <a:pt x="0" y="21490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50" tIns="22850" rIns="45750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" name="Google Shape;80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0103" y="88117"/>
            <a:ext cx="1529567" cy="6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15"/>
          <p:cNvGrpSpPr/>
          <p:nvPr/>
        </p:nvGrpSpPr>
        <p:grpSpPr>
          <a:xfrm>
            <a:off x="3016474" y="1482383"/>
            <a:ext cx="400548" cy="387892"/>
            <a:chOff x="0" y="0"/>
            <a:chExt cx="812800" cy="774700"/>
          </a:xfrm>
        </p:grpSpPr>
        <p:sp>
          <p:nvSpPr>
            <p:cNvPr id="87" name="Google Shape;87;p15"/>
            <p:cNvSpPr/>
            <p:nvPr/>
          </p:nvSpPr>
          <p:spPr>
            <a:xfrm>
              <a:off x="0" y="0"/>
              <a:ext cx="812800" cy="774700"/>
            </a:xfrm>
            <a:custGeom>
              <a:avLst/>
              <a:gdLst/>
              <a:ahLst/>
              <a:cxnLst/>
              <a:rect l="l" t="t" r="r" b="b"/>
              <a:pathLst>
                <a:path w="812800" h="774700" extrusionOk="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C2D4D"/>
            </a:solidFill>
            <a:ln>
              <a:noFill/>
            </a:ln>
          </p:spPr>
          <p:txBody>
            <a:bodyPr spcFirstLastPara="1" wrap="square" lIns="45700" tIns="22850" rIns="45700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9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15"/>
            <p:cNvSpPr txBox="1"/>
            <p:nvPr/>
          </p:nvSpPr>
          <p:spPr>
            <a:xfrm>
              <a:off x="228600" y="219075"/>
              <a:ext cx="355500" cy="39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3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9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" name="Google Shape;89;p15"/>
          <p:cNvGrpSpPr/>
          <p:nvPr/>
        </p:nvGrpSpPr>
        <p:grpSpPr>
          <a:xfrm>
            <a:off x="1880743" y="182195"/>
            <a:ext cx="897331" cy="911718"/>
            <a:chOff x="0" y="0"/>
            <a:chExt cx="812800" cy="812800"/>
          </a:xfrm>
        </p:grpSpPr>
        <p:sp>
          <p:nvSpPr>
            <p:cNvPr id="90" name="Google Shape;90;p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45700" tIns="22850" rIns="45700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9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5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3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9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Google Shape;92;p15"/>
          <p:cNvSpPr txBox="1"/>
          <p:nvPr/>
        </p:nvSpPr>
        <p:spPr>
          <a:xfrm>
            <a:off x="3016474" y="547087"/>
            <a:ext cx="3349454" cy="381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dirty="0">
                <a:latin typeface="+mn-lt"/>
                <a:ea typeface="Cambria" panose="02040503050406030204" pitchFamily="18" charset="0"/>
              </a:rPr>
              <a:t>Smart Support System for Teachers</a:t>
            </a:r>
            <a:endParaRPr sz="1600" dirty="0">
              <a:latin typeface="+mn-lt"/>
              <a:ea typeface="Cambria" panose="02040503050406030204" pitchFamily="18" charset="0"/>
            </a:endParaRPr>
          </a:p>
        </p:txBody>
      </p:sp>
      <p:sp>
        <p:nvSpPr>
          <p:cNvPr id="93" name="Google Shape;93;p15"/>
          <p:cNvSpPr txBox="1"/>
          <p:nvPr/>
        </p:nvSpPr>
        <p:spPr>
          <a:xfrm>
            <a:off x="616492" y="1414902"/>
            <a:ext cx="8230200" cy="521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5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86" b="1" u="sng" dirty="0">
                <a:solidFill>
                  <a:srgbClr val="0C2D4D"/>
                </a:solidFill>
                <a:latin typeface="+mn-lt"/>
                <a:ea typeface="Cambria" panose="02040503050406030204" pitchFamily="18" charset="0"/>
                <a:cs typeface="Open Sans"/>
                <a:sym typeface="Open Sans"/>
              </a:rPr>
              <a:t>Proposed Solution </a:t>
            </a:r>
            <a:endParaRPr sz="699" dirty="0">
              <a:latin typeface="+mn-lt"/>
              <a:ea typeface="Cambria" panose="02040503050406030204" pitchFamily="18" charset="0"/>
            </a:endParaRPr>
          </a:p>
        </p:txBody>
      </p:sp>
      <p:sp>
        <p:nvSpPr>
          <p:cNvPr id="94" name="Google Shape;94;p15"/>
          <p:cNvSpPr txBox="1"/>
          <p:nvPr/>
        </p:nvSpPr>
        <p:spPr>
          <a:xfrm>
            <a:off x="1964867" y="277392"/>
            <a:ext cx="744585" cy="66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5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latin typeface="Open Sans Medium" panose="020B0604020202020204" charset="0"/>
                <a:ea typeface="Open Sans Medium" panose="020B0604020202020204" charset="0"/>
                <a:cs typeface="Open Sans Medium" panose="020B0604020202020204" charset="0"/>
              </a:rPr>
              <a:t>Dev Dynasty</a:t>
            </a:r>
          </a:p>
        </p:txBody>
      </p:sp>
      <p:grpSp>
        <p:nvGrpSpPr>
          <p:cNvPr id="95" name="Google Shape;95;p15"/>
          <p:cNvGrpSpPr/>
          <p:nvPr/>
        </p:nvGrpSpPr>
        <p:grpSpPr>
          <a:xfrm>
            <a:off x="8377981" y="4236607"/>
            <a:ext cx="620777" cy="384285"/>
            <a:chOff x="0" y="-47625"/>
            <a:chExt cx="327000" cy="199225"/>
          </a:xfrm>
        </p:grpSpPr>
        <p:sp>
          <p:nvSpPr>
            <p:cNvPr id="96" name="Google Shape;96;p15"/>
            <p:cNvSpPr/>
            <p:nvPr/>
          </p:nvSpPr>
          <p:spPr>
            <a:xfrm>
              <a:off x="0" y="0"/>
              <a:ext cx="326928" cy="151600"/>
            </a:xfrm>
            <a:custGeom>
              <a:avLst/>
              <a:gdLst/>
              <a:ahLst/>
              <a:cxnLst/>
              <a:rect l="l" t="t" r="r" b="b"/>
              <a:pathLst>
                <a:path w="326928" h="151600" extrusionOk="0">
                  <a:moveTo>
                    <a:pt x="75800" y="0"/>
                  </a:moveTo>
                  <a:lnTo>
                    <a:pt x="251128" y="0"/>
                  </a:lnTo>
                  <a:cubicBezTo>
                    <a:pt x="292991" y="0"/>
                    <a:pt x="326928" y="33937"/>
                    <a:pt x="326928" y="75800"/>
                  </a:cubicBezTo>
                  <a:lnTo>
                    <a:pt x="326928" y="75800"/>
                  </a:lnTo>
                  <a:cubicBezTo>
                    <a:pt x="326928" y="117663"/>
                    <a:pt x="292991" y="151600"/>
                    <a:pt x="251128" y="151600"/>
                  </a:cubicBezTo>
                  <a:lnTo>
                    <a:pt x="75800" y="151600"/>
                  </a:lnTo>
                  <a:cubicBezTo>
                    <a:pt x="33937" y="151600"/>
                    <a:pt x="0" y="117663"/>
                    <a:pt x="0" y="75800"/>
                  </a:cubicBezTo>
                  <a:lnTo>
                    <a:pt x="0" y="75800"/>
                  </a:lnTo>
                  <a:cubicBezTo>
                    <a:pt x="0" y="33937"/>
                    <a:pt x="33937" y="0"/>
                    <a:pt x="75800" y="0"/>
                  </a:cubicBezTo>
                  <a:close/>
                </a:path>
              </a:pathLst>
            </a:custGeom>
            <a:solidFill>
              <a:srgbClr val="17726D"/>
            </a:solidFill>
            <a:ln>
              <a:noFill/>
            </a:ln>
          </p:spPr>
          <p:txBody>
            <a:bodyPr spcFirstLastPara="1" wrap="square" lIns="45700" tIns="22850" rIns="45700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9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5"/>
            <p:cNvSpPr txBox="1"/>
            <p:nvPr/>
          </p:nvSpPr>
          <p:spPr>
            <a:xfrm>
              <a:off x="0" y="-47625"/>
              <a:ext cx="327000" cy="19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3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9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" name="Google Shape;98;p15"/>
          <p:cNvSpPr/>
          <p:nvPr/>
        </p:nvSpPr>
        <p:spPr>
          <a:xfrm>
            <a:off x="8529919" y="4398443"/>
            <a:ext cx="316773" cy="152322"/>
          </a:xfrm>
          <a:custGeom>
            <a:avLst/>
            <a:gdLst/>
            <a:ahLst/>
            <a:cxnLst/>
            <a:rect l="l" t="t" r="r" b="b"/>
            <a:pathLst>
              <a:path w="633545" h="300142" extrusionOk="0">
                <a:moveTo>
                  <a:pt x="0" y="0"/>
                </a:moveTo>
                <a:lnTo>
                  <a:pt x="633545" y="0"/>
                </a:lnTo>
                <a:lnTo>
                  <a:pt x="633545" y="300142"/>
                </a:lnTo>
                <a:lnTo>
                  <a:pt x="0" y="3001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00" tIns="22850" rIns="45700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9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5"/>
          <p:cNvSpPr/>
          <p:nvPr/>
        </p:nvSpPr>
        <p:spPr>
          <a:xfrm>
            <a:off x="6976119" y="0"/>
            <a:ext cx="2013163" cy="1090643"/>
          </a:xfrm>
          <a:custGeom>
            <a:avLst/>
            <a:gdLst/>
            <a:ahLst/>
            <a:cxnLst/>
            <a:rect l="l" t="t" r="r" b="b"/>
            <a:pathLst>
              <a:path w="4026325" h="2149051" extrusionOk="0">
                <a:moveTo>
                  <a:pt x="0" y="0"/>
                </a:moveTo>
                <a:lnTo>
                  <a:pt x="4026324" y="0"/>
                </a:lnTo>
                <a:lnTo>
                  <a:pt x="4026324" y="2149051"/>
                </a:lnTo>
                <a:lnTo>
                  <a:pt x="0" y="21490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00" tIns="22850" rIns="45700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9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0098" y="88111"/>
            <a:ext cx="1529530" cy="6263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15"/>
          <p:cNvGrpSpPr/>
          <p:nvPr/>
        </p:nvGrpSpPr>
        <p:grpSpPr>
          <a:xfrm>
            <a:off x="0" y="4678054"/>
            <a:ext cx="9143818" cy="465445"/>
            <a:chOff x="0" y="-47625"/>
            <a:chExt cx="4816592" cy="241301"/>
          </a:xfrm>
        </p:grpSpPr>
        <p:sp>
          <p:nvSpPr>
            <p:cNvPr id="102" name="Google Shape;102;p15"/>
            <p:cNvSpPr/>
            <p:nvPr/>
          </p:nvSpPr>
          <p:spPr>
            <a:xfrm>
              <a:off x="0" y="0"/>
              <a:ext cx="4816592" cy="193676"/>
            </a:xfrm>
            <a:custGeom>
              <a:avLst/>
              <a:gdLst/>
              <a:ahLst/>
              <a:cxnLst/>
              <a:rect l="l" t="t" r="r" b="b"/>
              <a:pathLst>
                <a:path w="4816592" h="193676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93676"/>
                  </a:lnTo>
                  <a:lnTo>
                    <a:pt x="0" y="193676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spcFirstLastPara="1" wrap="square" lIns="45700" tIns="22850" rIns="45700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9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5"/>
            <p:cNvSpPr txBox="1"/>
            <p:nvPr/>
          </p:nvSpPr>
          <p:spPr>
            <a:xfrm>
              <a:off x="0" y="-47625"/>
              <a:ext cx="4816500" cy="241200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3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9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" name="Google Shape;104;p15"/>
          <p:cNvSpPr txBox="1"/>
          <p:nvPr/>
        </p:nvSpPr>
        <p:spPr>
          <a:xfrm>
            <a:off x="3717275" y="4813776"/>
            <a:ext cx="1709400" cy="261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70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99" b="1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@HACKIT 202</a:t>
            </a:r>
            <a:r>
              <a:rPr lang="en-GB" sz="999" b="1" dirty="0">
                <a:latin typeface="Open Sans Medium"/>
                <a:ea typeface="Open Sans Medium"/>
                <a:cs typeface="Open Sans Medium"/>
                <a:sym typeface="Open Sans Medium"/>
              </a:rPr>
              <a:t>6</a:t>
            </a:r>
            <a:endParaRPr sz="699" dirty="0">
              <a:solidFill>
                <a:srgbClr val="00000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D37D38-871E-2446-1DE0-31C5A5F90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688" y="1675354"/>
            <a:ext cx="5302070" cy="2539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mbria" panose="02040503050406030204" pitchFamily="18" charset="0"/>
              </a:rPr>
              <a:t>  AI-powered academic assistant for teachers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mbria" panose="02040503050406030204" pitchFamily="18" charset="0"/>
              </a:rPr>
              <a:t>  Automates lesson planning and grading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mbria" panose="02040503050406030204" pitchFamily="18" charset="0"/>
              </a:rPr>
              <a:t>  Provides rubric-based evaluation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mbria" panose="02040503050406030204" pitchFamily="18" charset="0"/>
              </a:rPr>
              <a:t>  Tracks student performance (internal + semester)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mbria" panose="02040503050406030204" pitchFamily="18" charset="0"/>
              </a:rPr>
              <a:t>  Enables resource sharing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mbria" panose="02040503050406030204" pitchFamily="18" charset="0"/>
              </a:rPr>
              <a:t>  Built using MVC architecture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DE651A-ADDD-272D-CEBD-5D2D82E020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5692" y="2147768"/>
            <a:ext cx="2234227" cy="141411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E4D3859-6D46-0313-1F35-53A7A7C4C672}"/>
              </a:ext>
            </a:extLst>
          </p:cNvPr>
          <p:cNvSpPr txBox="1"/>
          <p:nvPr/>
        </p:nvSpPr>
        <p:spPr>
          <a:xfrm>
            <a:off x="6295692" y="3773389"/>
            <a:ext cx="24609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Prototype – Landing page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16"/>
          <p:cNvGrpSpPr/>
          <p:nvPr/>
        </p:nvGrpSpPr>
        <p:grpSpPr>
          <a:xfrm>
            <a:off x="8378030" y="4332185"/>
            <a:ext cx="620777" cy="378209"/>
            <a:chOff x="0" y="-47625"/>
            <a:chExt cx="327000" cy="199225"/>
          </a:xfrm>
        </p:grpSpPr>
        <p:sp>
          <p:nvSpPr>
            <p:cNvPr id="110" name="Google Shape;110;p16"/>
            <p:cNvSpPr/>
            <p:nvPr/>
          </p:nvSpPr>
          <p:spPr>
            <a:xfrm>
              <a:off x="0" y="0"/>
              <a:ext cx="326928" cy="151600"/>
            </a:xfrm>
            <a:custGeom>
              <a:avLst/>
              <a:gdLst/>
              <a:ahLst/>
              <a:cxnLst/>
              <a:rect l="l" t="t" r="r" b="b"/>
              <a:pathLst>
                <a:path w="326928" h="151600" extrusionOk="0">
                  <a:moveTo>
                    <a:pt x="75800" y="0"/>
                  </a:moveTo>
                  <a:lnTo>
                    <a:pt x="251128" y="0"/>
                  </a:lnTo>
                  <a:cubicBezTo>
                    <a:pt x="292991" y="0"/>
                    <a:pt x="326928" y="33937"/>
                    <a:pt x="326928" y="75800"/>
                  </a:cubicBezTo>
                  <a:lnTo>
                    <a:pt x="326928" y="75800"/>
                  </a:lnTo>
                  <a:cubicBezTo>
                    <a:pt x="326928" y="117663"/>
                    <a:pt x="292991" y="151600"/>
                    <a:pt x="251128" y="151600"/>
                  </a:cubicBezTo>
                  <a:lnTo>
                    <a:pt x="75800" y="151600"/>
                  </a:lnTo>
                  <a:cubicBezTo>
                    <a:pt x="33937" y="151600"/>
                    <a:pt x="0" y="117663"/>
                    <a:pt x="0" y="75800"/>
                  </a:cubicBezTo>
                  <a:lnTo>
                    <a:pt x="0" y="75800"/>
                  </a:lnTo>
                  <a:cubicBezTo>
                    <a:pt x="0" y="33937"/>
                    <a:pt x="33937" y="0"/>
                    <a:pt x="75800" y="0"/>
                  </a:cubicBezTo>
                  <a:close/>
                </a:path>
              </a:pathLst>
            </a:custGeom>
            <a:solidFill>
              <a:srgbClr val="17726D"/>
            </a:solidFill>
            <a:ln>
              <a:noFill/>
            </a:ln>
          </p:spPr>
          <p:txBody>
            <a:bodyPr spcFirstLastPara="1" wrap="square" lIns="45700" tIns="22850" rIns="45700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9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16"/>
            <p:cNvSpPr txBox="1"/>
            <p:nvPr/>
          </p:nvSpPr>
          <p:spPr>
            <a:xfrm>
              <a:off x="0" y="-47625"/>
              <a:ext cx="327000" cy="19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3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9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2" name="Google Shape;112;p16"/>
          <p:cNvSpPr/>
          <p:nvPr/>
        </p:nvSpPr>
        <p:spPr>
          <a:xfrm>
            <a:off x="8529969" y="4491462"/>
            <a:ext cx="316773" cy="150071"/>
          </a:xfrm>
          <a:custGeom>
            <a:avLst/>
            <a:gdLst/>
            <a:ahLst/>
            <a:cxnLst/>
            <a:rect l="l" t="t" r="r" b="b"/>
            <a:pathLst>
              <a:path w="633545" h="300142" extrusionOk="0">
                <a:moveTo>
                  <a:pt x="0" y="0"/>
                </a:moveTo>
                <a:lnTo>
                  <a:pt x="633545" y="0"/>
                </a:lnTo>
                <a:lnTo>
                  <a:pt x="633545" y="300142"/>
                </a:lnTo>
                <a:lnTo>
                  <a:pt x="0" y="3001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00" tIns="22850" rIns="45700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9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200099" y="1673861"/>
            <a:ext cx="6368591" cy="2831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IN" b="1" dirty="0"/>
              <a:t>Technology Used: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Frontend: </a:t>
            </a:r>
            <a:r>
              <a:rPr lang="en-IN" dirty="0" err="1"/>
              <a:t>NextJs,Typescript</a:t>
            </a:r>
            <a:r>
              <a:rPr lang="en-IN" dirty="0"/>
              <a:t>, Tailwind CSS v4,framer-motion,lucide-react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Backend: </a:t>
            </a:r>
            <a:r>
              <a:rPr lang="en-IN" dirty="0" err="1"/>
              <a:t>NextJs</a:t>
            </a:r>
            <a:r>
              <a:rPr lang="en-US" dirty="0"/>
              <a:t>,next-auth,</a:t>
            </a:r>
            <a:r>
              <a:rPr lang="en-IN" dirty="0"/>
              <a:t> googleapis, bcryptjs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Database: MongoDB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AI Integration: Open Router API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Architecture: MVC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b="1" dirty="0"/>
          </a:p>
          <a:p>
            <a:r>
              <a:rPr lang="en-IN" b="1" dirty="0"/>
              <a:t>Methodology / Process:</a:t>
            </a:r>
            <a:endParaRPr lang="en-IN" dirty="0"/>
          </a:p>
          <a:p>
            <a:r>
              <a:rPr lang="en-IN" sz="1600" dirty="0"/>
              <a:t>   </a:t>
            </a:r>
            <a:r>
              <a:rPr lang="en-IN" dirty="0"/>
              <a:t>1</a:t>
            </a:r>
            <a:r>
              <a:rPr lang="en-IN" sz="1600" dirty="0"/>
              <a:t>. </a:t>
            </a:r>
            <a:r>
              <a:rPr lang="en-IN" dirty="0"/>
              <a:t>User login and redirected to his dashboard according to the role set up by  	admin(Admin/Faculty/Student).</a:t>
            </a:r>
          </a:p>
          <a:p>
            <a:r>
              <a:rPr lang="en-IN" dirty="0"/>
              <a:t>    2. AI takes required input ,processes it and generates lesson plan &amp; grading </a:t>
            </a:r>
          </a:p>
          <a:p>
            <a:r>
              <a:rPr lang="en-IN" dirty="0"/>
              <a:t>    3. Dashboard contains information based on their roles.</a:t>
            </a:r>
            <a:endParaRPr sz="700" dirty="0"/>
          </a:p>
        </p:txBody>
      </p:sp>
      <p:sp>
        <p:nvSpPr>
          <p:cNvPr id="117" name="Google Shape;117;p16"/>
          <p:cNvSpPr txBox="1"/>
          <p:nvPr/>
        </p:nvSpPr>
        <p:spPr>
          <a:xfrm>
            <a:off x="3112928" y="590597"/>
            <a:ext cx="2918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7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99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TECHNICAL APPROACH</a:t>
            </a:r>
            <a:endParaRPr sz="700" dirty="0"/>
          </a:p>
        </p:txBody>
      </p:sp>
      <p:sp>
        <p:nvSpPr>
          <p:cNvPr id="119" name="Google Shape;119;p16"/>
          <p:cNvSpPr/>
          <p:nvPr/>
        </p:nvSpPr>
        <p:spPr>
          <a:xfrm>
            <a:off x="6976159" y="162556"/>
            <a:ext cx="2013163" cy="1074526"/>
          </a:xfrm>
          <a:custGeom>
            <a:avLst/>
            <a:gdLst/>
            <a:ahLst/>
            <a:cxnLst/>
            <a:rect l="l" t="t" r="r" b="b"/>
            <a:pathLst>
              <a:path w="4026325" h="2149051" extrusionOk="0">
                <a:moveTo>
                  <a:pt x="0" y="0"/>
                </a:moveTo>
                <a:lnTo>
                  <a:pt x="4026324" y="0"/>
                </a:lnTo>
                <a:lnTo>
                  <a:pt x="4026324" y="2149051"/>
                </a:lnTo>
                <a:lnTo>
                  <a:pt x="0" y="21490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00" tIns="22850" rIns="45700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9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0" name="Google Shape;120;p16"/>
          <p:cNvGrpSpPr/>
          <p:nvPr/>
        </p:nvGrpSpPr>
        <p:grpSpPr>
          <a:xfrm>
            <a:off x="1880754" y="341870"/>
            <a:ext cx="897331" cy="897331"/>
            <a:chOff x="0" y="0"/>
            <a:chExt cx="812800" cy="812800"/>
          </a:xfrm>
        </p:grpSpPr>
        <p:sp>
          <p:nvSpPr>
            <p:cNvPr id="121" name="Google Shape;121;p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45700" tIns="22850" rIns="45700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9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6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3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9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3" name="Google Shape;123;p16"/>
          <p:cNvSpPr txBox="1"/>
          <p:nvPr/>
        </p:nvSpPr>
        <p:spPr>
          <a:xfrm>
            <a:off x="1964879" y="410559"/>
            <a:ext cx="760200" cy="66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5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Dev Dynasty</a:t>
            </a:r>
            <a:endParaRPr b="1" dirty="0"/>
          </a:p>
        </p:txBody>
      </p:sp>
      <p:pic>
        <p:nvPicPr>
          <p:cNvPr id="124" name="Google Shape;12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0099" y="249274"/>
            <a:ext cx="1529540" cy="6164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5" name="Google Shape;125;p16"/>
          <p:cNvGrpSpPr/>
          <p:nvPr/>
        </p:nvGrpSpPr>
        <p:grpSpPr>
          <a:xfrm>
            <a:off x="0" y="4766653"/>
            <a:ext cx="9143818" cy="458086"/>
            <a:chOff x="0" y="-47625"/>
            <a:chExt cx="4816592" cy="241301"/>
          </a:xfrm>
        </p:grpSpPr>
        <p:sp>
          <p:nvSpPr>
            <p:cNvPr id="126" name="Google Shape;126;p16"/>
            <p:cNvSpPr/>
            <p:nvPr/>
          </p:nvSpPr>
          <p:spPr>
            <a:xfrm>
              <a:off x="0" y="0"/>
              <a:ext cx="4816592" cy="193676"/>
            </a:xfrm>
            <a:custGeom>
              <a:avLst/>
              <a:gdLst/>
              <a:ahLst/>
              <a:cxnLst/>
              <a:rect l="l" t="t" r="r" b="b"/>
              <a:pathLst>
                <a:path w="4816592" h="193676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93676"/>
                  </a:lnTo>
                  <a:lnTo>
                    <a:pt x="0" y="193676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spcFirstLastPara="1" wrap="square" lIns="45700" tIns="22850" rIns="45700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9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16"/>
            <p:cNvSpPr txBox="1"/>
            <p:nvPr/>
          </p:nvSpPr>
          <p:spPr>
            <a:xfrm>
              <a:off x="0" y="-47625"/>
              <a:ext cx="4816500" cy="241200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3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9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16"/>
          <p:cNvSpPr txBox="1"/>
          <p:nvPr/>
        </p:nvSpPr>
        <p:spPr>
          <a:xfrm>
            <a:off x="3717297" y="4900229"/>
            <a:ext cx="1709400" cy="261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70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99" b="1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@HACKIT 202</a:t>
            </a:r>
            <a:r>
              <a:rPr lang="en-GB" sz="999" b="1" dirty="0">
                <a:latin typeface="Open Sans Medium"/>
                <a:ea typeface="Open Sans Medium"/>
                <a:cs typeface="Open Sans Medium"/>
                <a:sym typeface="Open Sans Medium"/>
              </a:rPr>
              <a:t>6</a:t>
            </a:r>
            <a:endParaRPr sz="700" dirty="0">
              <a:solidFill>
                <a:srgbClr val="0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32BE0E-892E-B3CC-109F-4F8E3B6E90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30833" y="1369897"/>
            <a:ext cx="2022511" cy="28294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17"/>
          <p:cNvGrpSpPr/>
          <p:nvPr/>
        </p:nvGrpSpPr>
        <p:grpSpPr>
          <a:xfrm>
            <a:off x="8378164" y="4236607"/>
            <a:ext cx="620777" cy="384285"/>
            <a:chOff x="0" y="-47625"/>
            <a:chExt cx="327000" cy="199225"/>
          </a:xfrm>
        </p:grpSpPr>
        <p:sp>
          <p:nvSpPr>
            <p:cNvPr id="134" name="Google Shape;134;p17"/>
            <p:cNvSpPr/>
            <p:nvPr/>
          </p:nvSpPr>
          <p:spPr>
            <a:xfrm>
              <a:off x="0" y="0"/>
              <a:ext cx="326928" cy="151600"/>
            </a:xfrm>
            <a:custGeom>
              <a:avLst/>
              <a:gdLst/>
              <a:ahLst/>
              <a:cxnLst/>
              <a:rect l="l" t="t" r="r" b="b"/>
              <a:pathLst>
                <a:path w="326928" h="151600" extrusionOk="0">
                  <a:moveTo>
                    <a:pt x="75800" y="0"/>
                  </a:moveTo>
                  <a:lnTo>
                    <a:pt x="251128" y="0"/>
                  </a:lnTo>
                  <a:cubicBezTo>
                    <a:pt x="292991" y="0"/>
                    <a:pt x="326928" y="33937"/>
                    <a:pt x="326928" y="75800"/>
                  </a:cubicBezTo>
                  <a:lnTo>
                    <a:pt x="326928" y="75800"/>
                  </a:lnTo>
                  <a:cubicBezTo>
                    <a:pt x="326928" y="117663"/>
                    <a:pt x="292991" y="151600"/>
                    <a:pt x="251128" y="151600"/>
                  </a:cubicBezTo>
                  <a:lnTo>
                    <a:pt x="75800" y="151600"/>
                  </a:lnTo>
                  <a:cubicBezTo>
                    <a:pt x="33937" y="151600"/>
                    <a:pt x="0" y="117663"/>
                    <a:pt x="0" y="75800"/>
                  </a:cubicBezTo>
                  <a:lnTo>
                    <a:pt x="0" y="75800"/>
                  </a:lnTo>
                  <a:cubicBezTo>
                    <a:pt x="0" y="33937"/>
                    <a:pt x="33937" y="0"/>
                    <a:pt x="75800" y="0"/>
                  </a:cubicBezTo>
                  <a:close/>
                </a:path>
              </a:pathLst>
            </a:custGeom>
            <a:solidFill>
              <a:srgbClr val="17726D"/>
            </a:solidFill>
            <a:ln>
              <a:noFill/>
            </a:ln>
          </p:spPr>
          <p:txBody>
            <a:bodyPr spcFirstLastPara="1" wrap="square" lIns="46450" tIns="23225" rIns="46450" bIns="2322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14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17"/>
            <p:cNvSpPr txBox="1"/>
            <p:nvPr/>
          </p:nvSpPr>
          <p:spPr>
            <a:xfrm>
              <a:off x="0" y="-47625"/>
              <a:ext cx="327000" cy="19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800" tIns="25800" rIns="25800" bIns="25800" anchor="ctr" anchorCtr="0">
              <a:noAutofit/>
            </a:bodyPr>
            <a:lstStyle/>
            <a:p>
              <a:pPr marL="0" marR="0" lvl="0" indent="0" algn="ctr" rtl="0">
                <a:lnSpc>
                  <a:spcPct val="13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14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6" name="Google Shape;136;p17"/>
          <p:cNvSpPr/>
          <p:nvPr/>
        </p:nvSpPr>
        <p:spPr>
          <a:xfrm>
            <a:off x="8530105" y="4398442"/>
            <a:ext cx="316773" cy="152322"/>
          </a:xfrm>
          <a:custGeom>
            <a:avLst/>
            <a:gdLst/>
            <a:ahLst/>
            <a:cxnLst/>
            <a:rect l="l" t="t" r="r" b="b"/>
            <a:pathLst>
              <a:path w="633545" h="300142" extrusionOk="0">
                <a:moveTo>
                  <a:pt x="0" y="0"/>
                </a:moveTo>
                <a:lnTo>
                  <a:pt x="633545" y="0"/>
                </a:lnTo>
                <a:lnTo>
                  <a:pt x="633545" y="300142"/>
                </a:lnTo>
                <a:lnTo>
                  <a:pt x="0" y="3001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6450" tIns="23225" rIns="46450" bIns="232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14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822072" y="1349964"/>
            <a:ext cx="7499498" cy="361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 dirty="0"/>
              <a:t>Feasibility:</a:t>
            </a:r>
          </a:p>
          <a:p>
            <a:r>
              <a:rPr lang="en-US" dirty="0"/>
              <a:t>    1. It is easy to access because of web-based interface and user-friendly, anyone can easily  	utilize it. </a:t>
            </a:r>
          </a:p>
          <a:p>
            <a:r>
              <a:rPr lang="en-US" dirty="0"/>
              <a:t>    2. It uses modern and scalable technology (</a:t>
            </a:r>
            <a:r>
              <a:rPr lang="en-US" dirty="0" err="1"/>
              <a:t>NextJs</a:t>
            </a:r>
            <a:r>
              <a:rPr lang="en-US" dirty="0"/>
              <a:t> and MongoDB).</a:t>
            </a:r>
          </a:p>
          <a:p>
            <a:endParaRPr lang="en-US" dirty="0"/>
          </a:p>
          <a:p>
            <a:r>
              <a:rPr lang="en-US" b="1" dirty="0"/>
              <a:t>Challenges &amp; Risks:</a:t>
            </a:r>
            <a:endParaRPr lang="en-US" dirty="0"/>
          </a:p>
          <a:p>
            <a:r>
              <a:rPr lang="en-US" dirty="0"/>
              <a:t>      1. AI accuracy in grading – Ai may not generate desirable output.</a:t>
            </a:r>
          </a:p>
          <a:p>
            <a:r>
              <a:rPr lang="en-US" dirty="0"/>
              <a:t>      2. Data privacy issues – database credentials may be leaked.</a:t>
            </a:r>
          </a:p>
          <a:p>
            <a:r>
              <a:rPr lang="en-US" dirty="0"/>
              <a:t>      3. Internet dependency – It can’t be utilized offline.</a:t>
            </a:r>
          </a:p>
          <a:p>
            <a:endParaRPr lang="en-US" dirty="0"/>
          </a:p>
          <a:p>
            <a:r>
              <a:rPr lang="en-IN" b="1" dirty="0"/>
              <a:t>Solutions:</a:t>
            </a:r>
            <a:endParaRPr lang="en-IN" dirty="0"/>
          </a:p>
          <a:p>
            <a:r>
              <a:rPr lang="en-IN" dirty="0"/>
              <a:t>    1. Human validation option (like admin can approve,edit or reject).</a:t>
            </a:r>
          </a:p>
          <a:p>
            <a:r>
              <a:rPr lang="en-IN" dirty="0"/>
              <a:t>    2. Secure database handling.</a:t>
            </a:r>
          </a:p>
          <a:p>
            <a:r>
              <a:rPr lang="en-IN" dirty="0"/>
              <a:t>    3. Offline data backup (option to save it in database).</a:t>
            </a:r>
          </a:p>
          <a:p>
            <a:endParaRPr lang="en-US" dirty="0"/>
          </a:p>
          <a:p>
            <a:endParaRPr lang="en-US" dirty="0"/>
          </a:p>
          <a:p>
            <a:pPr marL="247718" marR="0" lvl="1" algn="l" rtl="0">
              <a:lnSpc>
                <a:spcPct val="155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94"/>
            </a:pPr>
            <a:endParaRPr sz="711" dirty="0"/>
          </a:p>
        </p:txBody>
      </p:sp>
      <p:sp>
        <p:nvSpPr>
          <p:cNvPr id="138" name="Google Shape;138;p17"/>
          <p:cNvSpPr txBox="1"/>
          <p:nvPr/>
        </p:nvSpPr>
        <p:spPr>
          <a:xfrm>
            <a:off x="2932491" y="511697"/>
            <a:ext cx="3737000" cy="491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60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FEASIBILITY AND VIABILITY</a:t>
            </a:r>
            <a:endParaRPr sz="711" dirty="0"/>
          </a:p>
        </p:txBody>
      </p:sp>
      <p:sp>
        <p:nvSpPr>
          <p:cNvPr id="139" name="Google Shape;139;p17"/>
          <p:cNvSpPr/>
          <p:nvPr/>
        </p:nvSpPr>
        <p:spPr>
          <a:xfrm>
            <a:off x="6976270" y="0"/>
            <a:ext cx="2013163" cy="1090643"/>
          </a:xfrm>
          <a:custGeom>
            <a:avLst/>
            <a:gdLst/>
            <a:ahLst/>
            <a:cxnLst/>
            <a:rect l="l" t="t" r="r" b="b"/>
            <a:pathLst>
              <a:path w="4026325" h="2149051" extrusionOk="0">
                <a:moveTo>
                  <a:pt x="0" y="0"/>
                </a:moveTo>
                <a:lnTo>
                  <a:pt x="4026324" y="0"/>
                </a:lnTo>
                <a:lnTo>
                  <a:pt x="4026324" y="2149051"/>
                </a:lnTo>
                <a:lnTo>
                  <a:pt x="0" y="21490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6450" tIns="23225" rIns="46450" bIns="232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14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0" name="Google Shape;140;p17"/>
          <p:cNvGrpSpPr/>
          <p:nvPr/>
        </p:nvGrpSpPr>
        <p:grpSpPr>
          <a:xfrm>
            <a:off x="1728382" y="182195"/>
            <a:ext cx="897331" cy="911718"/>
            <a:chOff x="0" y="0"/>
            <a:chExt cx="812800" cy="812800"/>
          </a:xfrm>
        </p:grpSpPr>
        <p:sp>
          <p:nvSpPr>
            <p:cNvPr id="141" name="Google Shape;141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9025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46450" tIns="23225" rIns="46450" bIns="2322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14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7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800" tIns="25800" rIns="25800" bIns="25800" anchor="ctr" anchorCtr="0">
              <a:noAutofit/>
            </a:bodyPr>
            <a:lstStyle/>
            <a:p>
              <a:pPr marL="0" marR="0" lvl="0" indent="0" algn="ctr" rtl="0">
                <a:lnSpc>
                  <a:spcPct val="13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14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3" name="Google Shape;143;p17"/>
          <p:cNvSpPr txBox="1"/>
          <p:nvPr/>
        </p:nvSpPr>
        <p:spPr>
          <a:xfrm>
            <a:off x="1796892" y="270770"/>
            <a:ext cx="760200" cy="66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5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Dev Dynasty</a:t>
            </a:r>
            <a:endParaRPr b="1" dirty="0"/>
          </a:p>
        </p:txBody>
      </p:sp>
      <p:pic>
        <p:nvPicPr>
          <p:cNvPr id="144" name="Google Shape;14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3901" y="88111"/>
            <a:ext cx="1529562" cy="62639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5" name="Google Shape;145;p17"/>
          <p:cNvGrpSpPr/>
          <p:nvPr/>
        </p:nvGrpSpPr>
        <p:grpSpPr>
          <a:xfrm>
            <a:off x="0" y="4678054"/>
            <a:ext cx="9143818" cy="465445"/>
            <a:chOff x="0" y="-47625"/>
            <a:chExt cx="4816592" cy="241301"/>
          </a:xfrm>
        </p:grpSpPr>
        <p:sp>
          <p:nvSpPr>
            <p:cNvPr id="146" name="Google Shape;146;p17"/>
            <p:cNvSpPr/>
            <p:nvPr/>
          </p:nvSpPr>
          <p:spPr>
            <a:xfrm>
              <a:off x="0" y="0"/>
              <a:ext cx="4816592" cy="193676"/>
            </a:xfrm>
            <a:custGeom>
              <a:avLst/>
              <a:gdLst/>
              <a:ahLst/>
              <a:cxnLst/>
              <a:rect l="l" t="t" r="r" b="b"/>
              <a:pathLst>
                <a:path w="4816592" h="193676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93676"/>
                  </a:lnTo>
                  <a:lnTo>
                    <a:pt x="0" y="193676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spcFirstLastPara="1" wrap="square" lIns="46450" tIns="23225" rIns="46450" bIns="2322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14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17"/>
            <p:cNvSpPr txBox="1"/>
            <p:nvPr/>
          </p:nvSpPr>
          <p:spPr>
            <a:xfrm>
              <a:off x="0" y="-47625"/>
              <a:ext cx="4816500" cy="241200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txBody>
            <a:bodyPr spcFirstLastPara="1" wrap="square" lIns="25800" tIns="25800" rIns="25800" bIns="25800" anchor="ctr" anchorCtr="0">
              <a:noAutofit/>
            </a:bodyPr>
            <a:lstStyle/>
            <a:p>
              <a:pPr marL="0" marR="0" lvl="0" indent="0" algn="ctr" rtl="0">
                <a:lnSpc>
                  <a:spcPct val="13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14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8" name="Google Shape;148;p17"/>
          <p:cNvSpPr txBox="1"/>
          <p:nvPr/>
        </p:nvSpPr>
        <p:spPr>
          <a:xfrm>
            <a:off x="3717356" y="4813776"/>
            <a:ext cx="1709400" cy="265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70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16" b="1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@HACKIT 202</a:t>
            </a:r>
            <a:r>
              <a:rPr lang="en-GB" sz="1016" b="1" dirty="0">
                <a:latin typeface="Open Sans Medium"/>
                <a:ea typeface="Open Sans Medium"/>
                <a:cs typeface="Open Sans Medium"/>
                <a:sym typeface="Open Sans Medium"/>
              </a:rPr>
              <a:t>6</a:t>
            </a:r>
            <a:r>
              <a:rPr lang="en-GB" sz="1016" b="1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endParaRPr sz="71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18"/>
          <p:cNvGrpSpPr/>
          <p:nvPr/>
        </p:nvGrpSpPr>
        <p:grpSpPr>
          <a:xfrm>
            <a:off x="8378037" y="4236608"/>
            <a:ext cx="620777" cy="384285"/>
            <a:chOff x="0" y="-47625"/>
            <a:chExt cx="327000" cy="199225"/>
          </a:xfrm>
        </p:grpSpPr>
        <p:sp>
          <p:nvSpPr>
            <p:cNvPr id="154" name="Google Shape;154;p18"/>
            <p:cNvSpPr/>
            <p:nvPr/>
          </p:nvSpPr>
          <p:spPr>
            <a:xfrm>
              <a:off x="0" y="0"/>
              <a:ext cx="326928" cy="151600"/>
            </a:xfrm>
            <a:custGeom>
              <a:avLst/>
              <a:gdLst/>
              <a:ahLst/>
              <a:cxnLst/>
              <a:rect l="l" t="t" r="r" b="b"/>
              <a:pathLst>
                <a:path w="326928" h="151600" extrusionOk="0">
                  <a:moveTo>
                    <a:pt x="75800" y="0"/>
                  </a:moveTo>
                  <a:lnTo>
                    <a:pt x="251128" y="0"/>
                  </a:lnTo>
                  <a:cubicBezTo>
                    <a:pt x="292991" y="0"/>
                    <a:pt x="326928" y="33937"/>
                    <a:pt x="326928" y="75800"/>
                  </a:cubicBezTo>
                  <a:lnTo>
                    <a:pt x="326928" y="75800"/>
                  </a:lnTo>
                  <a:cubicBezTo>
                    <a:pt x="326928" y="117663"/>
                    <a:pt x="292991" y="151600"/>
                    <a:pt x="251128" y="151600"/>
                  </a:cubicBezTo>
                  <a:lnTo>
                    <a:pt x="75800" y="151600"/>
                  </a:lnTo>
                  <a:cubicBezTo>
                    <a:pt x="33937" y="151600"/>
                    <a:pt x="0" y="117663"/>
                    <a:pt x="0" y="75800"/>
                  </a:cubicBezTo>
                  <a:lnTo>
                    <a:pt x="0" y="75800"/>
                  </a:lnTo>
                  <a:cubicBezTo>
                    <a:pt x="0" y="33937"/>
                    <a:pt x="33937" y="0"/>
                    <a:pt x="75800" y="0"/>
                  </a:cubicBezTo>
                  <a:close/>
                </a:path>
              </a:pathLst>
            </a:custGeom>
            <a:solidFill>
              <a:srgbClr val="17726D"/>
            </a:solidFill>
            <a:ln>
              <a:noFill/>
            </a:ln>
          </p:spPr>
          <p:txBody>
            <a:bodyPr spcFirstLastPara="1" wrap="square" lIns="45700" tIns="22850" rIns="45700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9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18"/>
            <p:cNvSpPr txBox="1"/>
            <p:nvPr/>
          </p:nvSpPr>
          <p:spPr>
            <a:xfrm>
              <a:off x="0" y="-47625"/>
              <a:ext cx="327000" cy="19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3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9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6" name="Google Shape;156;p18"/>
          <p:cNvSpPr/>
          <p:nvPr/>
        </p:nvSpPr>
        <p:spPr>
          <a:xfrm>
            <a:off x="8529975" y="4398444"/>
            <a:ext cx="316773" cy="152322"/>
          </a:xfrm>
          <a:custGeom>
            <a:avLst/>
            <a:gdLst/>
            <a:ahLst/>
            <a:cxnLst/>
            <a:rect l="l" t="t" r="r" b="b"/>
            <a:pathLst>
              <a:path w="633545" h="300142" extrusionOk="0">
                <a:moveTo>
                  <a:pt x="0" y="0"/>
                </a:moveTo>
                <a:lnTo>
                  <a:pt x="633545" y="0"/>
                </a:lnTo>
                <a:lnTo>
                  <a:pt x="633545" y="300142"/>
                </a:lnTo>
                <a:lnTo>
                  <a:pt x="0" y="3001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00" tIns="22850" rIns="45700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9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997225" y="1845124"/>
            <a:ext cx="7759800" cy="2536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 dirty="0"/>
              <a:t>Impact on Users:</a:t>
            </a:r>
            <a:endParaRPr lang="en-US" dirty="0"/>
          </a:p>
          <a:p>
            <a:r>
              <a:rPr lang="en-US" dirty="0"/>
              <a:t>    1. It helps teachers save time and focus more on lecture delivery. </a:t>
            </a:r>
          </a:p>
          <a:p>
            <a:r>
              <a:rPr lang="en-US" dirty="0"/>
              <a:t>    2. It Improves teaching quality. </a:t>
            </a:r>
          </a:p>
          <a:p>
            <a:r>
              <a:rPr lang="en-US" dirty="0"/>
              <a:t>    3. Better student performance tracking can be done easily.</a:t>
            </a:r>
          </a:p>
          <a:p>
            <a:endParaRPr lang="en-US" dirty="0"/>
          </a:p>
          <a:p>
            <a:endParaRPr lang="en-US" b="1" dirty="0"/>
          </a:p>
          <a:p>
            <a:r>
              <a:rPr lang="en-US" b="1" dirty="0"/>
              <a:t>Benefits:</a:t>
            </a:r>
            <a:endParaRPr lang="en-US" dirty="0"/>
          </a:p>
          <a:p>
            <a:r>
              <a:rPr lang="en-US" dirty="0"/>
              <a:t>      1. Educational improvement </a:t>
            </a:r>
          </a:p>
          <a:p>
            <a:r>
              <a:rPr lang="en-US" dirty="0"/>
              <a:t>      2. Reduced manual work </a:t>
            </a:r>
          </a:p>
          <a:p>
            <a:r>
              <a:rPr lang="en-US" dirty="0"/>
              <a:t>      3. Efficient academic management</a:t>
            </a:r>
          </a:p>
          <a:p>
            <a:endParaRPr lang="en-US" dirty="0"/>
          </a:p>
          <a:p>
            <a:pPr marL="487603" indent="-243801">
              <a:lnSpc>
                <a:spcPct val="155026"/>
              </a:lnSpc>
              <a:buSzPts val="2258"/>
              <a:buFont typeface="Arial"/>
              <a:buAutoNum type="arabicPeriod"/>
            </a:pPr>
            <a:endParaRPr sz="700" dirty="0"/>
          </a:p>
        </p:txBody>
      </p:sp>
      <p:sp>
        <p:nvSpPr>
          <p:cNvPr id="158" name="Google Shape;158;p18"/>
          <p:cNvSpPr txBox="1"/>
          <p:nvPr/>
        </p:nvSpPr>
        <p:spPr>
          <a:xfrm>
            <a:off x="3203611" y="472746"/>
            <a:ext cx="3347029" cy="483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27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IMPACT AND BENEFITS</a:t>
            </a:r>
            <a:endParaRPr sz="700" dirty="0"/>
          </a:p>
        </p:txBody>
      </p:sp>
      <p:sp>
        <p:nvSpPr>
          <p:cNvPr id="159" name="Google Shape;159;p18"/>
          <p:cNvSpPr/>
          <p:nvPr/>
        </p:nvSpPr>
        <p:spPr>
          <a:xfrm>
            <a:off x="6976165" y="0"/>
            <a:ext cx="2013163" cy="1090643"/>
          </a:xfrm>
          <a:custGeom>
            <a:avLst/>
            <a:gdLst/>
            <a:ahLst/>
            <a:cxnLst/>
            <a:rect l="l" t="t" r="r" b="b"/>
            <a:pathLst>
              <a:path w="4026325" h="2149051" extrusionOk="0">
                <a:moveTo>
                  <a:pt x="0" y="0"/>
                </a:moveTo>
                <a:lnTo>
                  <a:pt x="4026324" y="0"/>
                </a:lnTo>
                <a:lnTo>
                  <a:pt x="4026324" y="2149051"/>
                </a:lnTo>
                <a:lnTo>
                  <a:pt x="0" y="21490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00" tIns="22850" rIns="45700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9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0" name="Google Shape;160;p18"/>
          <p:cNvGrpSpPr/>
          <p:nvPr/>
        </p:nvGrpSpPr>
        <p:grpSpPr>
          <a:xfrm>
            <a:off x="1880755" y="182194"/>
            <a:ext cx="897331" cy="911718"/>
            <a:chOff x="0" y="0"/>
            <a:chExt cx="812800" cy="812800"/>
          </a:xfrm>
        </p:grpSpPr>
        <p:sp>
          <p:nvSpPr>
            <p:cNvPr id="161" name="Google Shape;161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45700" tIns="22850" rIns="45700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9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18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3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9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3" name="Google Shape;163;p18"/>
          <p:cNvSpPr txBox="1"/>
          <p:nvPr/>
        </p:nvSpPr>
        <p:spPr>
          <a:xfrm>
            <a:off x="1949265" y="234792"/>
            <a:ext cx="760200" cy="66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5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Dev Dynasty</a:t>
            </a:r>
            <a:endParaRPr b="1" dirty="0"/>
          </a:p>
        </p:txBody>
      </p:sp>
      <p:pic>
        <p:nvPicPr>
          <p:cNvPr id="164" name="Google Shape;16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0099" y="88111"/>
            <a:ext cx="1529540" cy="626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5" name="Google Shape;165;p18"/>
          <p:cNvGrpSpPr/>
          <p:nvPr/>
        </p:nvGrpSpPr>
        <p:grpSpPr>
          <a:xfrm>
            <a:off x="0" y="4678055"/>
            <a:ext cx="9143818" cy="465445"/>
            <a:chOff x="0" y="-47625"/>
            <a:chExt cx="4816592" cy="241301"/>
          </a:xfrm>
        </p:grpSpPr>
        <p:sp>
          <p:nvSpPr>
            <p:cNvPr id="166" name="Google Shape;166;p18"/>
            <p:cNvSpPr/>
            <p:nvPr/>
          </p:nvSpPr>
          <p:spPr>
            <a:xfrm>
              <a:off x="0" y="0"/>
              <a:ext cx="4816592" cy="193676"/>
            </a:xfrm>
            <a:custGeom>
              <a:avLst/>
              <a:gdLst/>
              <a:ahLst/>
              <a:cxnLst/>
              <a:rect l="l" t="t" r="r" b="b"/>
              <a:pathLst>
                <a:path w="4816592" h="193676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93676"/>
                  </a:lnTo>
                  <a:lnTo>
                    <a:pt x="0" y="193676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spcFirstLastPara="1" wrap="square" lIns="45700" tIns="22850" rIns="45700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9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18"/>
            <p:cNvSpPr txBox="1"/>
            <p:nvPr/>
          </p:nvSpPr>
          <p:spPr>
            <a:xfrm>
              <a:off x="0" y="-47625"/>
              <a:ext cx="4816500" cy="241200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3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9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8" name="Google Shape;168;p18"/>
          <p:cNvSpPr txBox="1"/>
          <p:nvPr/>
        </p:nvSpPr>
        <p:spPr>
          <a:xfrm>
            <a:off x="3717300" y="4813777"/>
            <a:ext cx="1709400" cy="261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70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99" b="1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@HACKIT 202</a:t>
            </a:r>
            <a:r>
              <a:rPr lang="en-GB" sz="999" b="1" dirty="0">
                <a:latin typeface="Open Sans Medium"/>
                <a:ea typeface="Open Sans Medium"/>
                <a:cs typeface="Open Sans Medium"/>
                <a:sym typeface="Open Sans Medium"/>
              </a:rPr>
              <a:t>6</a:t>
            </a:r>
            <a:endParaRPr sz="7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" name="Google Shape;173;p19"/>
          <p:cNvGrpSpPr/>
          <p:nvPr/>
        </p:nvGrpSpPr>
        <p:grpSpPr>
          <a:xfrm>
            <a:off x="8378037" y="4236608"/>
            <a:ext cx="620777" cy="384285"/>
            <a:chOff x="0" y="-47625"/>
            <a:chExt cx="327000" cy="199225"/>
          </a:xfrm>
        </p:grpSpPr>
        <p:sp>
          <p:nvSpPr>
            <p:cNvPr id="174" name="Google Shape;174;p19"/>
            <p:cNvSpPr/>
            <p:nvPr/>
          </p:nvSpPr>
          <p:spPr>
            <a:xfrm>
              <a:off x="0" y="0"/>
              <a:ext cx="326928" cy="151600"/>
            </a:xfrm>
            <a:custGeom>
              <a:avLst/>
              <a:gdLst/>
              <a:ahLst/>
              <a:cxnLst/>
              <a:rect l="l" t="t" r="r" b="b"/>
              <a:pathLst>
                <a:path w="326928" h="151600" extrusionOk="0">
                  <a:moveTo>
                    <a:pt x="75800" y="0"/>
                  </a:moveTo>
                  <a:lnTo>
                    <a:pt x="251128" y="0"/>
                  </a:lnTo>
                  <a:cubicBezTo>
                    <a:pt x="292991" y="0"/>
                    <a:pt x="326928" y="33937"/>
                    <a:pt x="326928" y="75800"/>
                  </a:cubicBezTo>
                  <a:lnTo>
                    <a:pt x="326928" y="75800"/>
                  </a:lnTo>
                  <a:cubicBezTo>
                    <a:pt x="326928" y="117663"/>
                    <a:pt x="292991" y="151600"/>
                    <a:pt x="251128" y="151600"/>
                  </a:cubicBezTo>
                  <a:lnTo>
                    <a:pt x="75800" y="151600"/>
                  </a:lnTo>
                  <a:cubicBezTo>
                    <a:pt x="33937" y="151600"/>
                    <a:pt x="0" y="117663"/>
                    <a:pt x="0" y="75800"/>
                  </a:cubicBezTo>
                  <a:lnTo>
                    <a:pt x="0" y="75800"/>
                  </a:lnTo>
                  <a:cubicBezTo>
                    <a:pt x="0" y="33937"/>
                    <a:pt x="33937" y="0"/>
                    <a:pt x="75800" y="0"/>
                  </a:cubicBezTo>
                  <a:close/>
                </a:path>
              </a:pathLst>
            </a:custGeom>
            <a:solidFill>
              <a:srgbClr val="17726D"/>
            </a:solidFill>
            <a:ln>
              <a:noFill/>
            </a:ln>
          </p:spPr>
          <p:txBody>
            <a:bodyPr spcFirstLastPara="1" wrap="square" lIns="45700" tIns="22850" rIns="45700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9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9"/>
            <p:cNvSpPr txBox="1"/>
            <p:nvPr/>
          </p:nvSpPr>
          <p:spPr>
            <a:xfrm>
              <a:off x="0" y="-47625"/>
              <a:ext cx="327000" cy="19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3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9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6" name="Google Shape;176;p19"/>
          <p:cNvSpPr/>
          <p:nvPr/>
        </p:nvSpPr>
        <p:spPr>
          <a:xfrm>
            <a:off x="8529975" y="4398444"/>
            <a:ext cx="316773" cy="152322"/>
          </a:xfrm>
          <a:custGeom>
            <a:avLst/>
            <a:gdLst/>
            <a:ahLst/>
            <a:cxnLst/>
            <a:rect l="l" t="t" r="r" b="b"/>
            <a:pathLst>
              <a:path w="633545" h="300142" extrusionOk="0">
                <a:moveTo>
                  <a:pt x="0" y="0"/>
                </a:moveTo>
                <a:lnTo>
                  <a:pt x="633545" y="0"/>
                </a:lnTo>
                <a:lnTo>
                  <a:pt x="633545" y="300142"/>
                </a:lnTo>
                <a:lnTo>
                  <a:pt x="0" y="3001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00" tIns="22850" rIns="45700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9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 txBox="1"/>
          <p:nvPr/>
        </p:nvSpPr>
        <p:spPr>
          <a:xfrm>
            <a:off x="1397671" y="1443496"/>
            <a:ext cx="6348300" cy="2354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800" b="1" dirty="0"/>
              <a:t>Research / References:</a:t>
            </a:r>
            <a:endParaRPr lang="en-US" sz="18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Open Router AI documentation - https://openrouter.ai/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NextJS documentation-https://nextjs.org/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MVC architecture implementation-https://www.geeksforgeeks.org/system-design/mvc-architecture-system-design/</a:t>
            </a:r>
            <a:endParaRPr lang="en-IN" sz="700" dirty="0"/>
          </a:p>
        </p:txBody>
      </p:sp>
      <p:sp>
        <p:nvSpPr>
          <p:cNvPr id="178" name="Google Shape;178;p19"/>
          <p:cNvSpPr txBox="1"/>
          <p:nvPr/>
        </p:nvSpPr>
        <p:spPr>
          <a:xfrm>
            <a:off x="3003926" y="457430"/>
            <a:ext cx="3594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7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99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RESEARCH AND REFERENCES</a:t>
            </a:r>
            <a:endParaRPr sz="700" dirty="0"/>
          </a:p>
        </p:txBody>
      </p:sp>
      <p:sp>
        <p:nvSpPr>
          <p:cNvPr id="179" name="Google Shape;179;p19"/>
          <p:cNvSpPr/>
          <p:nvPr/>
        </p:nvSpPr>
        <p:spPr>
          <a:xfrm>
            <a:off x="6976165" y="0"/>
            <a:ext cx="2013163" cy="1090643"/>
          </a:xfrm>
          <a:custGeom>
            <a:avLst/>
            <a:gdLst/>
            <a:ahLst/>
            <a:cxnLst/>
            <a:rect l="l" t="t" r="r" b="b"/>
            <a:pathLst>
              <a:path w="4026325" h="2149051" extrusionOk="0">
                <a:moveTo>
                  <a:pt x="0" y="0"/>
                </a:moveTo>
                <a:lnTo>
                  <a:pt x="4026324" y="0"/>
                </a:lnTo>
                <a:lnTo>
                  <a:pt x="4026324" y="2149051"/>
                </a:lnTo>
                <a:lnTo>
                  <a:pt x="0" y="21490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00" tIns="22850" rIns="45700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9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0" name="Google Shape;180;p19"/>
          <p:cNvGrpSpPr/>
          <p:nvPr/>
        </p:nvGrpSpPr>
        <p:grpSpPr>
          <a:xfrm>
            <a:off x="1728356" y="182195"/>
            <a:ext cx="897331" cy="911718"/>
            <a:chOff x="0" y="0"/>
            <a:chExt cx="812800" cy="812800"/>
          </a:xfrm>
        </p:grpSpPr>
        <p:sp>
          <p:nvSpPr>
            <p:cNvPr id="181" name="Google Shape;181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45700" tIns="22850" rIns="45700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9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19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3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9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3" name="Google Shape;183;p19"/>
          <p:cNvSpPr txBox="1"/>
          <p:nvPr/>
        </p:nvSpPr>
        <p:spPr>
          <a:xfrm>
            <a:off x="1796866" y="304116"/>
            <a:ext cx="760200" cy="66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5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Dev Dynasty</a:t>
            </a:r>
            <a:endParaRPr b="1" dirty="0"/>
          </a:p>
        </p:txBody>
      </p:sp>
      <p:pic>
        <p:nvPicPr>
          <p:cNvPr id="184" name="Google Shape;184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3899" y="88111"/>
            <a:ext cx="1529540" cy="626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5" name="Google Shape;185;p19"/>
          <p:cNvGrpSpPr/>
          <p:nvPr/>
        </p:nvGrpSpPr>
        <p:grpSpPr>
          <a:xfrm>
            <a:off x="0" y="4678055"/>
            <a:ext cx="9143818" cy="465445"/>
            <a:chOff x="0" y="-47625"/>
            <a:chExt cx="4816592" cy="241301"/>
          </a:xfrm>
        </p:grpSpPr>
        <p:sp>
          <p:nvSpPr>
            <p:cNvPr id="186" name="Google Shape;186;p19"/>
            <p:cNvSpPr/>
            <p:nvPr/>
          </p:nvSpPr>
          <p:spPr>
            <a:xfrm>
              <a:off x="0" y="0"/>
              <a:ext cx="4816592" cy="193676"/>
            </a:xfrm>
            <a:custGeom>
              <a:avLst/>
              <a:gdLst/>
              <a:ahLst/>
              <a:cxnLst/>
              <a:rect l="l" t="t" r="r" b="b"/>
              <a:pathLst>
                <a:path w="4816592" h="193676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93676"/>
                  </a:lnTo>
                  <a:lnTo>
                    <a:pt x="0" y="193676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spcFirstLastPara="1" wrap="square" lIns="45700" tIns="22850" rIns="45700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9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19"/>
            <p:cNvSpPr txBox="1"/>
            <p:nvPr/>
          </p:nvSpPr>
          <p:spPr>
            <a:xfrm>
              <a:off x="0" y="-47625"/>
              <a:ext cx="4816500" cy="241200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3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9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8" name="Google Shape;188;p19"/>
          <p:cNvSpPr txBox="1"/>
          <p:nvPr/>
        </p:nvSpPr>
        <p:spPr>
          <a:xfrm>
            <a:off x="3717300" y="4813777"/>
            <a:ext cx="1709400" cy="261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70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99" b="1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@HACKIT 202</a:t>
            </a:r>
            <a:r>
              <a:rPr lang="en-GB" sz="999" b="1" dirty="0">
                <a:latin typeface="Open Sans Medium"/>
                <a:ea typeface="Open Sans Medium"/>
                <a:cs typeface="Open Sans Medium"/>
                <a:sym typeface="Open Sans Medium"/>
              </a:rPr>
              <a:t>6</a:t>
            </a:r>
            <a:endParaRPr sz="700" dirty="0">
              <a:solidFill>
                <a:srgbClr val="00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A96841-394C-B2BE-3DEE-9423CCF9D6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0545" y="3549629"/>
            <a:ext cx="1271239" cy="10338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70E328-4C9C-83AA-DDA6-339BF3C1E4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9574" y="3988762"/>
            <a:ext cx="1543265" cy="4858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7E4B59-2D62-E8BD-F1D4-B8599140D5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85846" y="3974472"/>
            <a:ext cx="1971950" cy="5144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416</Words>
  <Application>Microsoft Office PowerPoint</Application>
  <PresentationFormat>On-screen Show (16:9)</PresentationFormat>
  <Paragraphs>70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Open Sans</vt:lpstr>
      <vt:lpstr>Open Sans Medium</vt:lpstr>
      <vt:lpstr>Arial</vt:lpstr>
      <vt:lpstr>Calibri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Kulsum Ahmad</dc:creator>
  <cp:lastModifiedBy>SUKRITI AMBASTA</cp:lastModifiedBy>
  <cp:revision>9</cp:revision>
  <dcterms:modified xsi:type="dcterms:W3CDTF">2026-04-05T15:28:58Z</dcterms:modified>
</cp:coreProperties>
</file>